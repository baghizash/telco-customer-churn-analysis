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6400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E3138"/>
                </a:solidFill>
                <a:latin typeface="Liberation Serif"/>
              </a:rPr>
              <a:t>Analisis Telco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4E7FA6"/>
                </a:solidFill>
                <a:latin typeface="Liberation Serif"/>
              </a:rPr>
              <a:t>Customer Churn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606040"/>
            <a:ext cx="5852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2E3138"/>
                </a:solidFill>
                <a:latin typeface="Noto Sans"/>
              </a:rPr>
              <a:t>Siapa yang pergi, kenapa mereka pergi, dan berapa pendapatan yang hilang.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11480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E3138"/>
                </a:solidFill>
                <a:latin typeface="Noto Sans"/>
              </a:rPr>
              <a:t>Studi kasus IBM Sample Telco Customer Churn, dianalisis dengan SQL (SQLite) dan Python.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4E7FA6"/>
                </a:solidFill>
                <a:latin typeface="Noto Sans"/>
              </a:rPr>
              <a:t>BAGHIZ ASSHIDDIQIE ARASYA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85432" y="850392"/>
            <a:ext cx="4892040" cy="4160520"/>
          </a:xfrm>
          <a:prstGeom prst="roundRect">
            <a:avLst>
              <a:gd name="adj" fmla="val 5500"/>
            </a:avLst>
          </a:prstGeom>
          <a:solidFill>
            <a:srgbClr val="EF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12280" y="777240"/>
            <a:ext cx="4892040" cy="4160520"/>
          </a:xfrm>
          <a:prstGeom prst="roundRect">
            <a:avLst>
              <a:gd name="adj" fmla="val 55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234440"/>
            <a:ext cx="40233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7F1E5"/>
                </a:solidFill>
                <a:latin typeface="Noto Sans"/>
              </a:rPr>
              <a:t>CHURN RATE KESELURUHAN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FFFFFF"/>
                </a:solidFill>
                <a:latin typeface="Noto Sans"/>
              </a:rPr>
              <a:t>26,6%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Noto Sans"/>
              </a:rPr>
              <a:t>1.869 pelanggan berhenti berlangganan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7F1E5"/>
                </a:solidFill>
                <a:latin typeface="Noto Sans"/>
              </a:rPr>
              <a:t>Dari 7.032 pelanggan bersih, lebih dari satu dari empat pelanggan pergi. Pendapatan yang hilang mencapai USD 139.130,85 per bulan.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5230368"/>
            <a:ext cx="4892040" cy="713232"/>
          </a:xfrm>
          <a:prstGeom prst="roundRect">
            <a:avLst>
              <a:gd name="adj" fmla="val 55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5358384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"/>
              </a:rPr>
              <a:t>Plus paket dashboard Power BI: star schema, DAX, panduan rakit.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E3138"/>
                </a:solidFill>
                <a:latin typeface="Liberation Serif"/>
              </a:rPr>
              <a:t>Latar Belakang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6903720" cy="4206240"/>
          </a:xfrm>
          <a:prstGeom prst="roundRect">
            <a:avLst>
              <a:gd name="adj" fmla="val 5500"/>
            </a:avLst>
          </a:prstGeom>
          <a:solidFill>
            <a:srgbClr val="D9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6903720" cy="420624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62179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Dataset IBM Sample Telco Customer Churn berisi 7.032 pelanggan bersih dengan 21 kolom: demografi, layanan, kontrak, dan tagihan.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Pertanyaan utama analisis ini: pelanggan mana yang berhenti berlangganan, kenapa mereka pergi, dan berapa pendapatan yang hilang setiap bulan.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Churn rate keseluruhan 26,6%: 1.869 pelanggan pergi. Bagi perusahaan telekomunikasi, mempertahankan pelanggan lama jauh lebih murah daripada mencari yang baru, jadi pola churn adalah informasi bisnis yang mahal.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417320"/>
            <a:ext cx="3959352" cy="1207008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581912"/>
            <a:ext cx="338328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C75B7F"/>
                </a:solidFill>
                <a:latin typeface="Noto Sans"/>
              </a:rPr>
              <a:t>7.032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E3138"/>
                </a:solidFill>
                <a:latin typeface="Noto Sans"/>
              </a:rPr>
              <a:t>pelanggan bersih dianalisis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2770632"/>
            <a:ext cx="3959352" cy="1207008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935224"/>
            <a:ext cx="338328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C75B7F"/>
                </a:solidFill>
                <a:latin typeface="Noto Sans"/>
              </a:rPr>
              <a:t>1.869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E3138"/>
                </a:solidFill>
                <a:latin typeface="Noto Sans"/>
              </a:rPr>
              <a:t>pelanggan berhenti berlangganan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4123944"/>
            <a:ext cx="3959352" cy="1499616"/>
          </a:xfrm>
          <a:prstGeom prst="roundRect">
            <a:avLst>
              <a:gd name="adj" fmla="val 55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4288536"/>
            <a:ext cx="3383280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Noto Sans"/>
              </a:rPr>
              <a:t>USD 139.131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7F1E5"/>
                </a:solidFill>
                <a:latin typeface="Noto Sans"/>
              </a:rPr>
              <a:t>pendapatan hilang per bulan akibat churn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6A58"/>
                </a:solidFill>
                <a:latin typeface="Noto Sans"/>
              </a:rPr>
              <a:t>Sumber data: IBM Sample Telco Customer Churn (dataset sampel publik untuk pembelajaran).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E3138"/>
                </a:solidFill>
                <a:latin typeface="Liberation Serif"/>
              </a:rPr>
              <a:t>Data dan Metodologi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291840" cy="2011680"/>
          </a:xfrm>
          <a:prstGeom prst="roundRect">
            <a:avLst>
              <a:gd name="adj" fmla="val 55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2697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Noto Sans"/>
              </a:rPr>
              <a:t>7.032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7F1E5"/>
                </a:solidFill>
                <a:latin typeface="Noto Sans"/>
              </a:rPr>
              <a:t>pelanggan bersih, basis semua angka di deck ini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11880"/>
            <a:ext cx="3291840" cy="201168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2697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C75B7F"/>
                </a:solidFill>
                <a:latin typeface="Noto Sans"/>
              </a:rPr>
              <a:t>7.043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E3138"/>
                </a:solidFill>
                <a:latin typeface="Noto Sans"/>
              </a:rPr>
              <a:t>baris mentah; 11 baris dihapus pada pembersihan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78808" y="1481328"/>
            <a:ext cx="7571231" cy="4206240"/>
          </a:xfrm>
          <a:prstGeom prst="roundRect">
            <a:avLst>
              <a:gd name="adj" fmla="val 5500"/>
            </a:avLst>
          </a:prstGeom>
          <a:solidFill>
            <a:srgbClr val="D9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0" y="1417320"/>
            <a:ext cx="7571231" cy="420624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755648"/>
            <a:ext cx="685800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2E3138"/>
                </a:solidFill>
                <a:latin typeface="Noto Sans"/>
              </a:rPr>
              <a:t>Data dimuat ke SQLite, lalu dianalisis dengan query SQL asli: agregasi, grouping, dan perbandingan antar segmen. Pandas dipakai untuk eksplorasi lanjutan dan pembuatan 12 chart visual.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2E3138"/>
                </a:solidFill>
                <a:latin typeface="Noto Sans"/>
              </a:rPr>
              <a:t>Churn didefinisikan sebagai kolom Churn bernilai Yes; churn rate adalah jumlah Yes dibagi total pelanggan pada segmen yang sama.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2E3138"/>
                </a:solidFill>
                <a:latin typeface="Noto Sans"/>
              </a:rPr>
              <a:t>Pembersihan penting: kolom TotalCharges tiba sebagai teks dengan 11 nilai kosong tersembunyi (semua tenure 0, belum pernah ditagih). Ke-11 baris itu dihapus, bukan diimputasi, karena mengisi angka berarti mengarang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E3138"/>
                </a:solidFill>
                <a:latin typeface="Liberation Serif"/>
              </a:rPr>
              <a:t>Temuan 1: Kontrak Bulanan Paling Berisiko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45262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Kontrak month-to-month churn 42,7%, sekitar 15 kali lipat kontrak 2 tahun yang hanya 2,8%. Kontrak 1 tahun berada di tengah: 11,3%.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Kontrak bulanan mencakup 55,1% pelanggan tetapi menyumbang 88,6% dari semua churn.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Tanpa komitmen jangka panjang, pelanggan bisa pergi kapan saja, dan data menunjukkan mereka memang pergi.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846320"/>
            <a:ext cx="4526280" cy="1170432"/>
          </a:xfrm>
          <a:prstGeom prst="roundRect">
            <a:avLst>
              <a:gd name="adj" fmla="val 55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10912"/>
            <a:ext cx="402336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Noto Sans"/>
              </a:rPr>
              <a:t>42,7%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7F1E5"/>
                </a:solidFill>
                <a:latin typeface="Noto Sans"/>
              </a:rPr>
              <a:t>churn kontrak bulanan, vs 2,8% kontrak 2 tahun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13248" y="1481328"/>
            <a:ext cx="6336792" cy="3977639"/>
          </a:xfrm>
          <a:prstGeom prst="roundRect">
            <a:avLst>
              <a:gd name="adj" fmla="val 5500"/>
            </a:avLst>
          </a:prstGeom>
          <a:solidFill>
            <a:srgbClr val="D9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49240" y="1417320"/>
            <a:ext cx="6336792" cy="3977639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_churn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012" y="1618488"/>
            <a:ext cx="5891247" cy="35753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486399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A6A58"/>
                </a:solidFill>
                <a:latin typeface="Noto Sans"/>
              </a:rPr>
              <a:t>Chart: churn rate per jenis kontrak.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E3138"/>
                </a:solidFill>
                <a:latin typeface="Liberation Serif"/>
              </a:rPr>
              <a:t>Temuan 2: Tahun Pertama Paling Kritis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5120640" cy="3520440"/>
          </a:xfrm>
          <a:prstGeom prst="roundRect">
            <a:avLst>
              <a:gd name="adj" fmla="val 5500"/>
            </a:avLst>
          </a:prstGeom>
          <a:solidFill>
            <a:srgbClr val="D9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120640" cy="352044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churn_ten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45808"/>
            <a:ext cx="4718303" cy="28634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029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A6A58"/>
                </a:solidFill>
                <a:latin typeface="Noto Sans"/>
              </a:rPr>
              <a:t>Chart: churn rate per masa berlangganan.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481328"/>
            <a:ext cx="57150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Pelanggan baru (0-12 bulan) churn 47,7%: hampir separuh pergi di tahun pertama.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Kelompok ini hanya 30,9% dari basis pelanggan, tetapi menyumbang 55,5% dari semua churn.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Churn turun bertahap sampai 9,5% setelah 4 tahun berlangganan. Siapa yang bertahan melewati tahun pertama cenderung bertahan lama.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93792"/>
            <a:ext cx="11183112" cy="932688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7FA6"/>
                </a:solidFill>
                <a:latin typeface="Noto Sans"/>
              </a:rPr>
              <a:t>47,7% pelanggan baru pergi di tahun pertama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E3138"/>
                </a:solidFill>
                <a:latin typeface="Liberation Serif"/>
              </a:rPr>
              <a:t>Temuan 3: Fiber Mahal tapi Ditinggalkan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4572000" cy="1783080"/>
          </a:xfrm>
          <a:prstGeom prst="roundRect">
            <a:avLst>
              <a:gd name="adj" fmla="val 55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39776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Noto Sans"/>
              </a:rPr>
              <a:t>41,9%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7F1E5"/>
                </a:solidFill>
                <a:latin typeface="Noto Sans"/>
              </a:rPr>
              <a:t>churn pelanggan fiber optic, lebih dari dua kali DSL (19,0%)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29000"/>
            <a:ext cx="45720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2E3138"/>
                </a:solidFill>
                <a:latin typeface="Noto Sans"/>
              </a:rPr>
              <a:t>Pelanggan fiber optic churn 41,9%, sementara DSL hanya 19,0% dan pelanggan tanpa internet 7,4%.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2E3138"/>
                </a:solidFill>
                <a:latin typeface="Noto Sans"/>
              </a:rPr>
              <a:t>Tagihan bulanan 71-90 USD adalah band paling rawan: churn 37,8%. Pembayar electronic check churn 45,3%, hampir 3 kali kartu kredit otomatis (15,3%).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>
                <a:solidFill>
                  <a:srgbClr val="2E3138"/>
                </a:solidFill>
                <a:latin typeface="Noto Sans"/>
              </a:rPr>
              <a:t>Sinyal masalah nilai: pelanggan membayar paling mahal, merasa layanan tidak sepadan, dan pembayaran manual membuat pergi terasa mudah.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58968" y="1481328"/>
            <a:ext cx="6291072" cy="4206240"/>
          </a:xfrm>
          <a:prstGeom prst="roundRect">
            <a:avLst>
              <a:gd name="adj" fmla="val 5500"/>
            </a:avLst>
          </a:prstGeom>
          <a:solidFill>
            <a:srgbClr val="D9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94960" y="1417320"/>
            <a:ext cx="6291072" cy="420624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_churn_inter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733550"/>
            <a:ext cx="5888736" cy="35737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4960" y="5714999"/>
            <a:ext cx="6291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A6A58"/>
                </a:solidFill>
                <a:latin typeface="Noto Sans"/>
              </a:rPr>
              <a:t>Chart: churn rate per layanan internet.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E3138"/>
                </a:solidFill>
                <a:latin typeface="Liberation Serif"/>
              </a:rPr>
              <a:t>Temuan 4: Dukungan Melindungi, Lansia Rentan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5120640" cy="3520440"/>
          </a:xfrm>
          <a:prstGeom prst="roundRect">
            <a:avLst>
              <a:gd name="adj" fmla="val 5500"/>
            </a:avLst>
          </a:prstGeom>
          <a:solidFill>
            <a:srgbClr val="D9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120640" cy="352044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_churn_sup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294539"/>
            <a:ext cx="4718303" cy="176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029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A6A58"/>
                </a:solidFill>
                <a:latin typeface="Noto Sans"/>
              </a:rPr>
              <a:t>Chart: churn dengan dan tanpa Tech Support dan Online Security.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481328"/>
            <a:ext cx="57150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Tanpa Tech Support, churn 41,6%; dengan Tech Support hanya 15,2%. Tanpa Online Security churn 41,8%, dengan layanan itu 14,6%.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Senior citizen churn 41,7%; pelanggan tanpa pasangan 33,0%; tanpa tanggungan 31,3%. Gender hampir tidak berpengaruh: perempuan 27,0% vs laki-laki 26,2%.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Layanan dukungan bekerja seperti asuransi loyalitas: pelanggan yang merasa ditolong memilih bertahan.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93792"/>
            <a:ext cx="11183112" cy="932688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7FA6"/>
                </a:solidFill>
                <a:latin typeface="Noto Sans"/>
              </a:rPr>
              <a:t>Dukungan teknis memangkas churn dari 41,6% ke 15,2%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E3138"/>
                </a:solidFill>
                <a:latin typeface="Liberation Serif"/>
              </a:rPr>
              <a:t>Temuan 5: Risiko Menumpuk, Pendapatan Hilang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45262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Kombinasi fiber optic + kontrak bulanan churn 54,6%: lebih dari separuh pergi. Kontrak bulanan + pelanggan baru churn 51,4%.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0">
                <a:solidFill>
                  <a:srgbClr val="2E3138"/>
                </a:solidFill>
                <a:latin typeface="Noto Sans"/>
              </a:rPr>
              <a:t>Pelanggan yang churn membayar rata-rata USD 74,44 per bulan, lebih tinggi dari yang bertahan (USD 61,31). Yang pergi justru pelanggan bernilai lebih besar.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846320"/>
            <a:ext cx="4526280" cy="1170432"/>
          </a:xfrm>
          <a:prstGeom prst="roundRect">
            <a:avLst>
              <a:gd name="adj" fmla="val 55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10912"/>
            <a:ext cx="402336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Noto Sans"/>
              </a:rPr>
              <a:t>USD 139.130,85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7F1E5"/>
                </a:solidFill>
                <a:latin typeface="Noto Sans"/>
              </a:rPr>
              <a:t>revenue at risk per bulan, 30,5% dari pendapatan bulanan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13248" y="1481328"/>
            <a:ext cx="6336792" cy="3977639"/>
          </a:xfrm>
          <a:prstGeom prst="roundRect">
            <a:avLst>
              <a:gd name="adj" fmla="val 5500"/>
            </a:avLst>
          </a:prstGeom>
          <a:solidFill>
            <a:srgbClr val="D9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49240" y="1417320"/>
            <a:ext cx="6336792" cy="3977639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_churn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7" y="1711855"/>
            <a:ext cx="5934456" cy="33885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486399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A6A58"/>
                </a:solidFill>
                <a:latin typeface="Noto Sans"/>
              </a:rPr>
              <a:t>Chart: churn pada segmen kombinasi paling rawan.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E3138"/>
                </a:solidFill>
                <a:latin typeface="Liberation Serif"/>
              </a:rPr>
              <a:t>Dashboard Power BI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6903720" cy="4160520"/>
          </a:xfrm>
          <a:prstGeom prst="roundRect">
            <a:avLst>
              <a:gd name="adj" fmla="val 5500"/>
            </a:avLst>
          </a:prstGeom>
          <a:solidFill>
            <a:srgbClr val="D9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6903720" cy="416052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_preview_halama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669065"/>
            <a:ext cx="6501383" cy="36570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669279"/>
            <a:ext cx="6903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A6A58"/>
                </a:solidFill>
                <a:latin typeface="Noto Sans"/>
              </a:rPr>
              <a:t>Pratinjau halaman 1 dashboard, dirender dari kit Power BI proyek 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1417320"/>
            <a:ext cx="3959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E7FA6"/>
                </a:solidFill>
                <a:latin typeface="Noto Sans"/>
              </a:rPr>
              <a:t>ISI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810512"/>
            <a:ext cx="3959352" cy="73152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73568" y="1901952"/>
            <a:ext cx="3520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C75B7F"/>
                </a:solidFill>
                <a:latin typeface="Noto Sans"/>
              </a:rPr>
              <a:t>Halaman 1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3138"/>
                </a:solidFill>
                <a:latin typeface="Noto Sans"/>
              </a:rPr>
              <a:t>Ringkasan Churn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2651760"/>
            <a:ext cx="3959352" cy="73152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743200"/>
            <a:ext cx="3520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C75B7F"/>
                </a:solidFill>
                <a:latin typeface="Noto Sans"/>
              </a:rPr>
              <a:t>Halaman 2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3138"/>
                </a:solidFill>
                <a:latin typeface="Noto Sans"/>
              </a:rPr>
              <a:t>Kontrak, Tenure, dan Pembayaran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493008"/>
            <a:ext cx="3959352" cy="73152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3584448"/>
            <a:ext cx="3520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C75B7F"/>
                </a:solidFill>
                <a:latin typeface="Noto Sans"/>
              </a:rPr>
              <a:t>Halaman 3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3138"/>
                </a:solidFill>
                <a:latin typeface="Noto Sans"/>
              </a:rPr>
              <a:t>Layanan, Dukungan, dan Demografi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4334256"/>
            <a:ext cx="3959352" cy="73152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4425696"/>
            <a:ext cx="3520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C75B7F"/>
                </a:solidFill>
                <a:latin typeface="Noto Sans"/>
              </a:rPr>
              <a:t>Halaman 4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3138"/>
                </a:solidFill>
                <a:latin typeface="Noto Sans"/>
              </a:rPr>
              <a:t>Pendapatan Berisiko dan Metodologi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5212080"/>
            <a:ext cx="39593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E3138"/>
                </a:solidFill>
                <a:latin typeface="Noto Sans"/>
              </a:rPr>
              <a:t>Satu tabel fakta berisi 7.032 pelanggan bersih; semua measure membaca grain yang sama, jadi angka antarhalaman selalu konsisten.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961888"/>
            <a:ext cx="11183112" cy="603504"/>
          </a:xfrm>
          <a:prstGeom prst="roundRect">
            <a:avLst>
              <a:gd name="adj" fmla="val 55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961888"/>
            <a:ext cx="106984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"/>
              </a:rPr>
              <a:t>Telco-Churn-Analysis.pbix</a:t>
            </a:r>
            <a:r>
              <a:rPr sz="1250" b="0">
                <a:solidFill>
                  <a:srgbClr val="F7F1E5"/>
                </a:solidFill>
                <a:latin typeface="Noto Sans"/>
              </a:rPr>
              <a:t>: star schema, measure DAX terverifikasi, layout 4 halaman, dan panduan rakit ada di folder powerbi pada repo ini.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E3138"/>
                </a:solidFill>
                <a:latin typeface="Liberation Serif"/>
              </a:rPr>
              <a:t>Penutup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1097280"/>
            <a:ext cx="777240" cy="82296"/>
          </a:xfrm>
          <a:prstGeom prst="roundRect">
            <a:avLst>
              <a:gd name="adj" fmla="val 5500"/>
            </a:avLst>
          </a:prstGeom>
          <a:solidFill>
            <a:srgbClr val="C7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435608"/>
            <a:ext cx="6720840" cy="3246120"/>
          </a:xfrm>
          <a:prstGeom prst="roundRect">
            <a:avLst>
              <a:gd name="adj" fmla="val 5500"/>
            </a:avLst>
          </a:prstGeom>
          <a:solidFill>
            <a:srgbClr val="D9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6720840" cy="3246120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60350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4E7FA6"/>
                </a:solidFill>
                <a:latin typeface="Liberation Serif"/>
              </a:rPr>
              <a:t>Kesimpulan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E3138"/>
                </a:solidFill>
                <a:latin typeface="Noto Sans"/>
              </a:rPr>
              <a:t>Kontrak bulanan, tahun pertama, dan fiber optic adalah tiga pendorong churn terbesar. Fokus retensi pada segmen kombinasi (fiber + bulanan 54,6%) adalah tuas pendapatan terbesar.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71600"/>
            <a:ext cx="4142232" cy="1536192"/>
          </a:xfrm>
          <a:prstGeom prst="roundRect">
            <a:avLst>
              <a:gd name="adj" fmla="val 55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572768"/>
            <a:ext cx="3520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Liberation Serif"/>
              </a:rPr>
              <a:t>Rekomendasi utama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7F1E5"/>
                </a:solidFill>
                <a:latin typeface="Noto Sans"/>
              </a:rPr>
              <a:t>Onboarding 12 bulan pertama; konversi kontrak bulanan ke tahunan; audit nilai fiber optic; dorong auto-pay; bundel dukungan untuk segmen rawan.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3081528"/>
            <a:ext cx="4142232" cy="1536192"/>
          </a:xfrm>
          <a:prstGeom prst="roundRect">
            <a:avLst>
              <a:gd name="adj" fmla="val 5500"/>
            </a:avLst>
          </a:prstGeom>
          <a:solidFill>
            <a:srgbClr val="F7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282696"/>
            <a:ext cx="3520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4E7FA6"/>
                </a:solidFill>
                <a:latin typeface="Liberation Serif"/>
              </a:rPr>
              <a:t>Terbuka untuk direproduksi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E3138"/>
                </a:solidFill>
                <a:latin typeface="Noto Sans"/>
              </a:rPr>
              <a:t>Notebook analisis, query SQL, dan data bersih terbuka di repo untuk dihitung ulang dari nol.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92040"/>
            <a:ext cx="11183112" cy="1463040"/>
          </a:xfrm>
          <a:prstGeom prst="roundRect">
            <a:avLst>
              <a:gd name="adj" fmla="val 5500"/>
            </a:avLst>
          </a:prstGeom>
          <a:solidFill>
            <a:srgbClr val="4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6949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Noto Sans"/>
              </a:rPr>
              <a:t>BAGHIZ ASSHIDDIQIE ARASYA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FC3D2"/>
                </a:solidFill>
                <a:latin typeface="Noto Sans"/>
              </a:rPr>
              <a:t>github.com/baghizash/telco-customer-churn-analysis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5321808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7F1E5"/>
                </a:solidFill>
                <a:latin typeface="Noto Sans"/>
              </a:rPr>
              <a:t>Terima kasih. Silakan jelajahi repo dan dashboardnya, semua angka terbuka untuk dicek ulang.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