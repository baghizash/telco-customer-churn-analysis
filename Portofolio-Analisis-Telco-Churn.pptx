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4E7F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08392" y="0"/>
            <a:ext cx="109728" cy="6858000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720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700" b="1" i="0">
                <a:solidFill>
                  <a:srgbClr val="2E3138"/>
                </a:solidFill>
                <a:latin typeface="Liberation Serif"/>
              </a:rPr>
              <a:t>Analisis Telco Customer Churn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700" b="1" i="0">
                <a:solidFill>
                  <a:srgbClr val="2E3138"/>
                </a:solidFill>
                <a:latin typeface="Liberation Serif"/>
              </a:rPr>
              <a:t>dengan SQL dan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33536E"/>
                </a:solidFill>
                <a:latin typeface="Noto Sans"/>
              </a:rPr>
              <a:t>Studi Kasus: IBM Sample Telco Customer Churn. Siapa yang Pergi, Kenapa, dan Berapa Pendapatan yang Hilang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32120"/>
            <a:ext cx="6675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2E3138"/>
                </a:solidFill>
                <a:latin typeface="Noto Sans"/>
              </a:rPr>
              <a:t>BAGHIZ ASSHIDDIQIE ARASYA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5F636B"/>
                </a:solidFill>
                <a:latin typeface="Noto Sans"/>
              </a:rPr>
              <a:t>Data Analyst Portfolio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74519"/>
            <a:ext cx="36118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8000" b="1" i="0">
                <a:solidFill>
                  <a:srgbClr val="FFFFFF"/>
                </a:solidFill>
                <a:latin typeface="Noto Sans"/>
              </a:rPr>
              <a:t>26,6%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Noto Sans"/>
              </a:rPr>
              <a:t>churn rate keseluruhan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Noto Sans"/>
              </a:rPr>
              <a:t>1.869 dari 7.032 pelanggan berhenti berlangganan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Latar Belakang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8580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50" b="0" i="0">
                <a:solidFill>
                  <a:srgbClr val="2E3138"/>
                </a:solidFill>
                <a:latin typeface="Noto Sans"/>
              </a:rPr>
              <a:t>Dataset IBM Sample Telco Customer Churn: 7.032 pelanggan bersih dengan 21 kolom demografi, layanan, kontrak, dan tagihan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50" b="0" i="0">
                <a:solidFill>
                  <a:srgbClr val="2E3138"/>
                </a:solidFill>
                <a:latin typeface="Noto Sans"/>
              </a:rPr>
              <a:t>Pertanyaan utama: pelanggan mana yang berhenti berlangganan, kenapa mereka pergi, dan berapa pendapatan yang hilang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50" b="0" i="0">
                <a:solidFill>
                  <a:srgbClr val="2E3138"/>
                </a:solidFill>
                <a:latin typeface="Noto Sans"/>
              </a:rPr>
              <a:t>Churn rate keseluruhan 26,6 persen atau 1.869 pelanggan, lebih dari 1 dari 4 pelanggan pergi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50" b="0" i="0">
                <a:solidFill>
                  <a:srgbClr val="2E3138"/>
                </a:solidFill>
                <a:latin typeface="Noto Sans"/>
              </a:rPr>
              <a:t>Tujuan analisis: menemukan segmen paling rawan churn lalu menyusun rekomendasi retensi yang konkret dan terukur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1463040"/>
            <a:ext cx="3685032" cy="4526280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78308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4E7FA6"/>
                </a:solidFill>
                <a:latin typeface="Noto Sans"/>
              </a:rPr>
              <a:t>7.032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E3138"/>
                </a:solidFill>
                <a:latin typeface="Noto Sans"/>
              </a:rPr>
              <a:t>pelanggan bersih dianalisis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301752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C75B7F"/>
                </a:solidFill>
                <a:latin typeface="Noto Sans"/>
              </a:rPr>
              <a:t>26,6%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E3138"/>
                </a:solidFill>
                <a:latin typeface="Noto Sans"/>
              </a:rPr>
              <a:t>churn rate keseluruhan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2519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4E7FA6"/>
                </a:solidFill>
                <a:latin typeface="Noto Sans"/>
              </a:rPr>
              <a:t>1.869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E3138"/>
                </a:solidFill>
                <a:latin typeface="Noto Sans"/>
              </a:rPr>
              <a:t>pelanggan berhenti berlangganan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Data dan Metodologi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Data dimuat ke SQLite lalu dianalisis dengan query SQL asli: agregasi, grouping, dan perbandingan antar segmen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Pandas dipakai untuk eksplorasi lanjutan dan pembuatan 12 chart visual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Churn didefinisikan sebagai kolom Churn bernilai Yes; rate dihitung sebagai Yes dibagi total pelanggan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Segmen yang dianalisis: kontrak, masa berlangganan, layanan internet, metode pembayaran, tagihan, layanan dukungan, demografi, dan segmen kombinasi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463040"/>
            <a:ext cx="4965192" cy="4297680"/>
          </a:xfrm>
          <a:prstGeom prst="rect">
            <a:avLst/>
          </a:prstGeom>
          <a:solidFill>
            <a:srgbClr val="EFC3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1783080"/>
            <a:ext cx="425196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5400" b="1" i="0">
                <a:solidFill>
                  <a:srgbClr val="C75B7F"/>
                </a:solidFill>
                <a:latin typeface="Noto Sans"/>
              </a:rPr>
              <a:t>11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2E3138"/>
                </a:solidFill>
                <a:latin typeface="Noto Sans"/>
              </a:rPr>
              <a:t>baris dihapus dari data, bukan diimputasi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E3138"/>
                </a:solidFill>
                <a:latin typeface="Noto Sans"/>
              </a:rPr>
              <a:t>Pembersihan penting: kolom TotalCharges tiba sebagai teks dengan 11 nilai kosong tersembunyi (semua tenure 0, belum pernah ditagih), 11 baris itu dihapus karena imputasi berarti mengarang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Temuan 1: Kontrak Bulanan Paling Berisiko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Kontrak bulanan (month-to-month) churn 42,7 persen, 15 kali lipat kontrak 2 tahun yang hanya 2,8 persen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Kontrak bulanan mencakup 55,1 persen pelanggan tetapi menyumbang 88,6 persen dari semua churn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Kontrak 1 tahun churn 11,3 persen, jauh lebih aman dibanding bulanan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Tanpa komitmen jangka panjang, pelanggan pergi kapan saja dan hampir tanpa hambatan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200" b="1" i="0">
                <a:solidFill>
                  <a:srgbClr val="C75B7F"/>
                </a:solidFill>
                <a:latin typeface="Noto Sans"/>
              </a:rPr>
              <a:t>42,7%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kontrak bulanan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12064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200" b="1" i="0">
                <a:solidFill>
                  <a:srgbClr val="4E7FA6"/>
                </a:solidFill>
                <a:latin typeface="Noto Sans"/>
              </a:rPr>
              <a:t>2,8%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kontrak 2 tahun</a:t>
            </a:r>
          </a:p>
        </p:txBody>
      </p:sp>
      <p:pic>
        <p:nvPicPr>
          <p:cNvPr id="7" name="Picture 6" descr="02_churn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22392" cy="32907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4863531"/>
            <a:ext cx="5422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F636B"/>
                </a:solidFill>
                <a:latin typeface="Noto Sans"/>
              </a:rPr>
              <a:t>Churn rate per jenis kontrak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Temuan 2: Tahun Pertama Paling Kritis</a:t>
            </a:r>
          </a:p>
        </p:txBody>
      </p:sp>
      <p:pic>
        <p:nvPicPr>
          <p:cNvPr id="4" name="Picture 3" descr="03_churn_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5422392" cy="32907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92131"/>
            <a:ext cx="5422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F636B"/>
                </a:solidFill>
                <a:latin typeface="Noto Sans"/>
              </a:rPr>
              <a:t>Churn rate per masa berlangganan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463040"/>
            <a:ext cx="51023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4400" b="1" i="0">
                <a:solidFill>
                  <a:srgbClr val="C75B7F"/>
                </a:solidFill>
                <a:latin typeface="Noto Sans"/>
              </a:rPr>
              <a:t>47,7%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pelanggan baru pergi di tahun pertama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788920"/>
            <a:ext cx="5102352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Pelanggan baru 0 sampai 12 bulan churn 47,7 persen, hampir separuh pergi di tahun pertama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Pelanggan baru menyumbang 55,5 persen dari semua churn, padahal hanya 30,9 persen dari basis pelanggan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Churn turun bertahap sampai 9,5 persen setelah 4 tahun berlangganan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Siapa yang bertahan melewati tahun pertama cenderung setia, jadi onboarding awal adalah investasi terbaik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Temuan 3: Fiber Mahal tapi Ditinggalkan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3492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Pelanggan Fiber optic churn 41,9 persen, lebih dari dua kali DSL yang 19,0 persen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Tagihan bulanan 71 sampai 90 USD churn 37,8 persen, tertinggi di antara band tagihan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632" y="1371600"/>
            <a:ext cx="53492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Pelanggan yang membayar dengan cek elektronik churn 45,3 persen, hampir 3 kali lipat kartu kredit otomatis 15,3 persen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Sinyal masalah nilai: pelanggan membayar paling mahal tetapi merasa layanannya tidak sepadan, dan pembayaran manual membuat pergi terasa mudah</a:t>
            </a:r>
          </a:p>
        </p:txBody>
      </p:sp>
      <p:pic>
        <p:nvPicPr>
          <p:cNvPr id="6" name="Picture 5" descr="04_churn_int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760720" cy="34960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60504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F636B"/>
                </a:solidFill>
                <a:latin typeface="Noto Sans"/>
              </a:rPr>
              <a:t>Churn rate per layanan internet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 i="0">
                <a:solidFill>
                  <a:srgbClr val="C75B7F"/>
                </a:solidFill>
                <a:latin typeface="Noto Sans"/>
              </a:rPr>
              <a:t>41,9%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E3138"/>
                </a:solidFill>
                <a:latin typeface="Noto Sans"/>
              </a:rPr>
              <a:t>churn pelanggan Fiber optic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892040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 i="0">
                <a:solidFill>
                  <a:srgbClr val="C75B7F"/>
                </a:solidFill>
                <a:latin typeface="Noto Sans"/>
              </a:rPr>
              <a:t>45,3%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E3138"/>
                </a:solidFill>
                <a:latin typeface="Noto Sans"/>
              </a:rPr>
              <a:t>churn pembayar cek elektronik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Temuan 4: Dukungan Melindungi, Lansia Rentan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Pelanggan internet tanpa Tech Support churn 41,6 persen, dibanding yang memakai hanya 15,2 persen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Tanpa Online Security churn 41,8 persen, dibanding yang memakai 14,6 persen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632" y="137160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Senior citizen churn 41,7 persen, pelanggan tanpa pasangan 33,0 persen, tanpa tanggungan 31,3 persen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550" b="0" i="0">
                <a:solidFill>
                  <a:srgbClr val="2E3138"/>
                </a:solidFill>
                <a:latin typeface="Noto Sans"/>
              </a:rPr>
              <a:t>Gender hampir tidak berpengaruh: perempuan 27,0 persen vs laki-laki 26,2 persen</a:t>
            </a:r>
          </a:p>
        </p:txBody>
      </p:sp>
      <p:pic>
        <p:nvPicPr>
          <p:cNvPr id="6" name="Picture 5" descr="07_churn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3063240"/>
            <a:ext cx="8805672" cy="3295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1640" y="6450530"/>
            <a:ext cx="8805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F636B"/>
                </a:solidFill>
                <a:latin typeface="Noto Sans"/>
              </a:rPr>
              <a:t>Churn: Tech Support dan Online Security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Temuan 5: Risiko Menumpuk dan Pendapatan Hilang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Fiber optic plus kontrak bulanan churn 54,6 persen, lebih dari separuh pergi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Kontrak bulanan plus pelanggan baru churn 51,4 persen, kombinasi dua faktor rawan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Pelanggan yang churn membayar rata-rata 74,44 USD per bulan vs 61,31 USD yang bertahan, yang pergi adalah pelanggan bernilai lebih tinggi</a:t>
            </a:r>
          </a:p>
        </p:txBody>
      </p:sp>
      <p:pic>
        <p:nvPicPr>
          <p:cNvPr id="5" name="Picture 4" descr="10_churn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22392" cy="30961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4668949"/>
            <a:ext cx="5422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F636B"/>
                </a:solidFill>
                <a:latin typeface="Noto Sans"/>
              </a:rPr>
              <a:t>Churn pada segmen kombinasi paling rawan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10908792" cy="1051560"/>
          </a:xfrm>
          <a:prstGeom prst="rect">
            <a:avLst/>
          </a:prstGeom>
          <a:solidFill>
            <a:srgbClr val="4E7F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1324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oto Sans"/>
              </a:rPr>
              <a:t>139.131 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5394960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Noto Sans"/>
              </a:rPr>
              <a:t>Pendapatan yang hilang akibat churn per bulan, atau 30,5 persen dari seluruh pendapatan bulanan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Rekomendasi Retensi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7" y="1636776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00200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Bangun program onboarding 12 bulan pertama: sapa proaktif di bulan ke-1, 3, dan 6 plus cek kepuasan dini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7064" y="1417320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28232" y="1636776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9984" y="1600200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Konversi kontrak bulanan ke kontrak tahunan dengan insentif: diskon loyalitas, harga terkunci, dan bonus layanan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7" y="3209544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72968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Audit nilai layanan Fiber optic: tinjau kualitas jaringan per area, harga, dan komunikasi manfaatnya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2990088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3209544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4" y="3172968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Dorong auto-pay dan migrasi dari cek elektronik dengan insentif kecil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62856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7" y="4782312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45736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Tawarkan Tech Support dan Online Security proaktif, bundel dukungan gratis 3 bulan untuk segmen rawan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4562856"/>
            <a:ext cx="5321808" cy="1408176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4782312"/>
            <a:ext cx="128016" cy="128016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4745736"/>
            <a:ext cx="4617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Perhatian khusus untuk lansia dan pelanggan yang hidup sendiri dengan jalur dukungan yang lebih personal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475488"/>
          </a:xfrm>
          <a:prstGeom prst="rect">
            <a:avLst/>
          </a:prstGeom>
          <a:solidFill>
            <a:srgbClr val="C75B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474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E3138"/>
                </a:solidFill>
                <a:latin typeface="Liberation Serif"/>
              </a:rPr>
              <a:t>Kesimpulan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858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Kontrak bulanan, tahun pertama, dan fiber optic adalah tiga pendorong churn terbesar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Fokus retensi pada segmen kombinasi: fiber plus kontrak bulanan (54,6 persen) dan kontrak bulanan plus pelanggan baru (51,4 persen)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Churn bukan sekadar angka pelanggan: 139.131 USD pendapatan hilang setiap bulan</a:t>
            </a:r>
          </a:p>
          <a:p>
            <a:pPr marL="171450" indent="-171450">
              <a:lnSpc>
                <a:spcPct val="112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Tech stack: SQL di SQLite, Python dengan pandas, matplotlib, dan seaborn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1463040"/>
            <a:ext cx="3685032" cy="4206240"/>
          </a:xfrm>
          <a:prstGeom prst="rect">
            <a:avLst/>
          </a:prstGeom>
          <a:solidFill>
            <a:srgbClr val="F7F1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783080"/>
            <a:ext cx="30632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C75B7F"/>
                </a:solidFill>
                <a:latin typeface="Noto Sans"/>
              </a:rPr>
              <a:t>26,6%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E3138"/>
                </a:solidFill>
                <a:latin typeface="Noto Sans"/>
              </a:rPr>
              <a:t>satu dari empat pelanggan pergi. Retensi segmen rawan adalah tuas pendapatan terbesar.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7863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2200" b="1" i="0">
                <a:solidFill>
                  <a:srgbClr val="2E3138"/>
                </a:solidFill>
                <a:latin typeface="Liberation Serif"/>
              </a:rPr>
              <a:t>BAGHIZ ASSHIDDIQIE ARASYA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33536E"/>
                </a:solidFill>
                <a:latin typeface="Noto Sans"/>
              </a:rPr>
              <a:t>github.com/baghizash/telco-customer-churn-analysis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989320"/>
            <a:ext cx="3685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C75B7F"/>
                </a:solidFill>
                <a:latin typeface="Noto Sans"/>
              </a:rPr>
              <a:t>Mari diskusi soal data dan retensi pelanggan.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